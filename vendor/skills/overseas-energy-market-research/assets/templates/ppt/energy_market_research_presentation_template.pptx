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6256000" cy="9144000"/>
  <p:notesSz cx="9144000" cy="16256000"/>
  <p:embeddedFontLst>
    <p:embeddedFont>
      <p:font typeface="Oranienbaum" panose="02000506080000020003" pitchFamily="34" charset="-122"/>
      <p:regular r:id="rId24"/>
    </p:embeddedFont>
    <p:embeddedFont>
      <p:font typeface="Oranienbaum" panose="02000506080000020003" pitchFamily="34" charset="-120"/>
      <p:regular r:id="rId25"/>
    </p:embeddedFont>
    <p:embeddedFont>
      <p:font typeface="Liter" panose="02000503030000020004" pitchFamily="34" charset="-122"/>
      <p:regular r:id="rId26"/>
    </p:embeddedFont>
    <p:embeddedFont>
      <p:font typeface="Liter" panose="02000503030000020004" pitchFamily="34" charset="-120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等线" panose="02010600030101010101" charset="-122"/>
      <p:regular r:id="rId32"/>
      <p:bold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狭义光储硬件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4.9</c:v>
                </c:pt>
                <c:pt idx="1">
                  <c:v>6.7</c:v>
                </c:pt>
                <c:pt idx="2">
                  <c:v>9.1</c:v>
                </c:pt>
                <c:pt idx="3">
                  <c:v>11.8</c:v>
                </c:pt>
                <c:pt idx="4">
                  <c:v>14.7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广义设备规模</c:v>
                </c:pt>
              </c:strCache>
            </c:strRef>
          </c:tx>
          <c:spPr>
            <a:solidFill>
              <a:srgbClr val="1A3C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9.9</c:v>
                </c:pt>
                <c:pt idx="2">
                  <c:v>12.4</c:v>
                </c:pt>
                <c:pt idx="3">
                  <c:v>15.3</c:v>
                </c:pt>
                <c:pt idx="4">
                  <c:v>18.3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亿欧元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21b036f-730f-40d6-900c-35cc8a8ed28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4A148C"/>
              </a:solidFill>
              <a:effectLst/>
            </c:spPr>
          </c:dPt>
          <c:dPt>
            <c:idx val="1"/>
            <c:bubble3D val="0"/>
            <c:spPr>
              <a:solidFill>
                <a:srgbClr val="1A3C6E"/>
              </a:solidFill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bubble3D val="0"/>
            <c:spPr>
              <a:solidFill>
                <a:srgbClr val="37474F"/>
              </a:solidFill>
              <a:effectLst/>
            </c:spPr>
          </c:dPt>
          <c:dPt>
            <c:idx val="4"/>
            <c:bubble3D val="0"/>
            <c:spPr>
              <a:solidFill>
                <a:srgbClr val="757575"/>
              </a:solidFill>
              <a:effectLst/>
            </c:spPr>
          </c:dPt>
          <c:dPt>
            <c:idx val="5"/>
            <c:bubble3D val="0"/>
            <c:spPr>
              <a:solidFill>
                <a:srgbClr val="9E9E9E"/>
              </a:solidFill>
              <a:effectLst/>
            </c:spPr>
          </c:dPt>
          <c:dPt>
            <c:idx val="6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1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[[重点国家]]</c:v>
                </c:pt>
                <c:pt idx="1">
                  <c:v>荷兰</c:v>
                </c:pt>
                <c:pt idx="2">
                  <c:v>法国</c:v>
                </c:pt>
                <c:pt idx="3">
                  <c:v>英国</c:v>
                </c:pt>
                <c:pt idx="4">
                  <c:v>比利时</c:v>
                </c:pt>
                <c:pt idx="5">
                  <c:v>奥地利</c:v>
                </c:pt>
                <c:pt idx="6">
                  <c:v>其他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</c:v>
                </c:pt>
                <c:pt idx="1">
                  <c:v>11</c:v>
                </c:pt>
                <c:pt idx="2">
                  <c:v>9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89bac16-b3c9-4c73-ad95-a8eb9e8f567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价格</c:v>
                </c:pt>
              </c:strCache>
            </c:strRef>
          </c:tx>
          <c:spPr>
            <a:ln w="25400" cap="flat" cmpd="sng" algn="ctr">
              <a:solidFill>
                <a:srgbClr val="4A14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148C"/>
              </a:solidFill>
              <a:ln w="9525" cap="flat" cmpd="sng" algn="ctr">
                <a:solidFill>
                  <a:srgbClr val="4A148C"/>
                </a:solidFill>
                <a:prstDash val="solid"/>
                <a:round/>
              </a:ln>
              <a:effectLst/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1.6</c:v>
                </c:pt>
                <c:pt idx="1">
                  <c:v>2.688</c:v>
                </c:pt>
                <c:pt idx="2">
                  <c:v>2.52</c:v>
                </c:pt>
                <c:pt idx="3">
                  <c:v>2.52</c:v>
                </c:pt>
                <c:pt idx="4">
                  <c:v>1.92</c:v>
                </c:pt>
                <c:pt idx="5">
                  <c:v>1.92</c:v>
                </c:pt>
                <c:pt idx="6">
                  <c:v>2.12</c:v>
                </c:pt>
                <c:pt idx="7">
                  <c:v>2.56</c:v>
                </c:pt>
                <c:pt idx="8">
                  <c:v>2.4</c:v>
                </c:pt>
                <c:pt idx="9">
                  <c:v>1.92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499</c:v>
                </c:pt>
                <c:pt idx="1">
                  <c:v>999</c:v>
                </c:pt>
                <c:pt idx="2">
                  <c:v>699</c:v>
                </c:pt>
                <c:pt idx="3">
                  <c:v>899</c:v>
                </c:pt>
                <c:pt idx="4">
                  <c:v>599</c:v>
                </c:pt>
                <c:pt idx="5">
                  <c:v>799</c:v>
                </c:pt>
                <c:pt idx="6">
                  <c:v>499</c:v>
                </c:pt>
                <c:pt idx="7">
                  <c:v>649</c:v>
                </c:pt>
                <c:pt idx="8">
                  <c:v>1099</c:v>
                </c:pt>
                <c:pt idx="9">
                  <c:v>649</c:v>
                </c:pt>
              </c:numCache>
            </c:numRef>
          </c:y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电池容量(kWh)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300"/>
          <c:min val="300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单机价格(€)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756e56fd-5fe9-43bb-a6ba-b85e92f7e5f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Anker</c:v>
                </c:pt>
              </c:strCache>
            </c:strRef>
          </c:tx>
          <c:spPr>
            <a:ln w="25400" cap="flat" cmpd="sng" algn="ctr">
              <a:solidFill>
                <a:srgbClr val="4A14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148C"/>
              </a:solidFill>
              <a:ln w="9525" cap="flat" cmpd="sng" algn="ctr">
                <a:solidFill>
                  <a:srgbClr val="4A148C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Jackery</c:v>
                </c:pt>
              </c:strCache>
            </c:strRef>
          </c:tx>
          <c:spPr>
            <a:ln w="25400" cap="flat" cmpd="sng" algn="ctr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 cmpd="sng" algn="ctr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EcoFlow</c:v>
                </c:pt>
              </c:strCache>
            </c:strRef>
          </c:tx>
          <c:spPr>
            <a:ln w="25400" cap="flat" cmpd="sng" algn="ctr">
              <a:solidFill>
                <a:srgbClr val="3747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474F"/>
              </a:solidFill>
              <a:ln w="9525" cap="flat" cmpd="sng" algn="ctr">
                <a:solidFill>
                  <a:srgbClr val="37474F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Marstek</c:v>
                </c:pt>
              </c:strCache>
            </c:strRef>
          </c:tx>
          <c:spPr>
            <a:ln w="25400" cap="flat" cmpd="sng" algn="ctr">
              <a:solidFill>
                <a:srgbClr val="7575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57575"/>
              </a:solidFill>
              <a:ln w="9525" cap="flat" cmpd="sng" algn="ctr">
                <a:solidFill>
                  <a:srgbClr val="757575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Zendure</c:v>
                </c:pt>
              </c:strCache>
            </c:strRef>
          </c:tx>
          <c:spPr>
            <a:ln w="25400" cap="flat" cmpd="sng" algn="ctr">
              <a:solidFill>
                <a:srgbClr val="1A3C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3C6E"/>
              </a:solidFill>
              <a:ln w="9525" cap="flat" cmpd="sng" algn="ctr">
                <a:solidFill>
                  <a:srgbClr val="1A3C6E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电池容量</c:v>
                </c:pt>
                <c:pt idx="1">
                  <c:v>PV输入功率</c:v>
                </c:pt>
                <c:pt idx="2">
                  <c:v>扩展性</c:v>
                </c:pt>
                <c:pt idx="3">
                  <c:v>智能功能</c:v>
                </c:pt>
                <c:pt idx="4">
                  <c:v>价格竞争力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1aaace4-c6d7-43a3-811f-975efe61275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Amazon评分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Anker SB2</c:v>
                </c:pt>
                <c:pt idx="1">
                  <c:v>Anker SB3</c:v>
                </c:pt>
                <c:pt idx="2">
                  <c:v>Zendure 800</c:v>
                </c:pt>
                <c:pt idx="3">
                  <c:v>EcoFlow AC</c:v>
                </c:pt>
                <c:pt idx="4">
                  <c:v>Zendure 2400</c:v>
                </c:pt>
                <c:pt idx="5">
                  <c:v>Marstek VenusC</c:v>
                </c:pt>
                <c:pt idx="6">
                  <c:v>EcoFlow Ultra</c:v>
                </c:pt>
                <c:pt idx="7">
                  <c:v>Jackery Max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4.6</c:v>
                </c:pt>
                <c:pt idx="1">
                  <c:v>4.5</c:v>
                </c:pt>
                <c:pt idx="2">
                  <c:v>4.5</c:v>
                </c:pt>
                <c:pt idx="3">
                  <c:v>4.3</c:v>
                </c:pt>
                <c:pt idx="4">
                  <c:v>4.3</c:v>
                </c:pt>
                <c:pt idx="5">
                  <c:v>4.1</c:v>
                </c:pt>
                <c:pt idx="6">
                  <c:v>3.9</c:v>
                </c:pt>
                <c:pt idx="7">
                  <c:v>3.3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b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2f3d693-5e81-494f-9bc1-aeaa801eba7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提及频率指数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21212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价格偏高</c:v>
                </c:pt>
                <c:pt idx="1">
                  <c:v>WiFi/APP问题</c:v>
                </c:pt>
                <c:pt idx="2">
                  <c:v>安装复杂</c:v>
                </c:pt>
                <c:pt idx="3">
                  <c:v>售后服务差</c:v>
                </c:pt>
                <c:pt idx="4">
                  <c:v>配送费用高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82</c:v>
                </c:pt>
                <c:pt idx="2">
                  <c:v>58</c:v>
                </c:pt>
                <c:pt idx="3">
                  <c:v>52</c:v>
                </c:pt>
                <c:pt idx="4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ecab802-70fa-4633-a283-d75d39c094c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4A148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1A3C6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35</c:v>
                </c:pt>
                <c:pt idx="2">
                  <c:v>20</c:v>
                </c:pt>
                <c:pt idx="3">
                  <c:v>10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Q4 2026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30</c:v>
                </c:pt>
                <c:pt idx="2">
                  <c:v>40</c:v>
                </c:pt>
                <c:pt idx="3">
                  <c:v>30</c:v>
                </c:pt>
                <c:pt idx="4">
                  <c:v>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Q1 2027</c:v>
                </c:pt>
              </c:strCache>
            </c:strRef>
          </c:tx>
          <c:spPr>
            <a:solidFill>
              <a:srgbClr val="37474F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VDE-AR-N 4105</c:v>
                </c:pt>
                <c:pt idx="1">
                  <c:v>CE-RED/LVD/EMC</c:v>
                </c:pt>
                <c:pt idx="2">
                  <c:v>荷兰注册兼容</c:v>
                </c:pt>
                <c:pt idx="3">
                  <c:v>英国G98预研</c:v>
                </c:pt>
                <c:pt idx="4">
                  <c:v>法国CACSI适配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 cmpd="sng" algn="ctr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5757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cb8e7e0-5a80-4eb1-8fa5-bce53cb42b2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solarpowereurope.org" TargetMode="External"/><Relationship Id="rId2" Type="http://schemas.openxmlformats.org/officeDocument/2006/relationships/hyperlink" Target="https://www.bundesnetzagentur.de" TargetMode="Externa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static.eseficiencia.es/media/2025/03/Solar_Power_Europe_Plug_in_Solar_PV_Briefing_Paper_20250312_V02_6dbb591d88.pdf" TargetMode="External"/><Relationship Id="rId2" Type="http://schemas.openxmlformats.org/officeDocument/2006/relationships/hyperlink" Target="https://www.bundesnetzagentur.de" TargetMode="Externa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uedkni4duuwk/mnt/agents/output/eu_balcony_solar_report/images/5_Balcony_Solar_A_Solar_Power_Hack.png"/>
          <p:cNvPicPr>
            <a:picLocks noChangeAspect="1"/>
          </p:cNvPicPr>
          <p:nvPr/>
        </p:nvPicPr>
        <p:blipFill>
          <a:blip r:embed="rId1"/>
          <a:srcRect t="7802" b="780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4A148C">
                  <a:alpha val="90000"/>
                </a:srgbClr>
              </a:gs>
              <a:gs pos="55000">
                <a:srgbClr val="4A148C">
                  <a:alpha val="70000"/>
                </a:srgbClr>
              </a:gs>
              <a:gs pos="100000">
                <a:srgbClr val="4A148C">
                  <a:alpha val="2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89000" y="1524000"/>
            <a:ext cx="1016000" cy="50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889000" y="1905000"/>
            <a:ext cx="10160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[[目标区域]][[产品类别]]</a:t>
            </a:r>
            <a:endParaRPr lang="en-US" sz="4800" dirty="0">
              <a:latin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海外能源产品竞品调研报告</a:t>
            </a:r>
            <a:endParaRPr lang="en-US" sz="4800" dirty="0">
              <a:latin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89000" y="4445000"/>
            <a:ext cx="889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市场格局 · 竞品矩阵 · 用户痛点 · 战略机会 · 行动建议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89000" y="5080000"/>
            <a:ext cx="5080000" cy="127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889000" y="8509000"/>
            <a:ext cx="14478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数据来源: Bundesnetzagentur, SolarPower Europe, VDE, [[目标电商平台]], ComputerBase | [[覆盖国家数]]国市场、[[竞品数量]]款核心竞品、[[评论数量]]+用户反馈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635000"/>
            <a:ext cx="381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kern="0" spc="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CONTENTS</a:t>
            </a:r>
            <a:endParaRPr lang="en-US" sz="1200" kern="0" spc="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952500"/>
            <a:ext cx="762000" cy="381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889000" y="177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01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2032000" y="177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[[目标区域]][[产品类别]]市场概览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2032000" y="222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市场规模、2026-2030年增长预测、政策驱动矩阵、分国规模与份额分析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7048500" y="1778000"/>
            <a:ext cx="12700" cy="12700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302500" y="177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02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8445500" y="177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竞品全景分析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8445500" y="222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竞争定位矩阵、核心参数五维对比、渠道覆盖与服务策略评估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889000" y="3810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889000" y="431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03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2032000" y="431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用户痛点深度解码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2032000" y="476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五大高频痛点分布、Amazon评分矩阵、典型差评案例与竞品短板映射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048500" y="4318000"/>
            <a:ext cx="12700" cy="12700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302500" y="4318000"/>
            <a:ext cx="1143000" cy="762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04</a:t>
            </a:r>
            <a:endParaRPr lang="en-US" sz="48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445500" y="4318000"/>
            <a:ext cx="4699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战略机会与行动建议</a:t>
            </a:r>
            <a:endParaRPr lang="en-US" sz="20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445500" y="4762500"/>
            <a:ext cx="4699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SWOT战略分析、产品定位建议、渠道首发策略与认证路线图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9000" y="8636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0" name="Text 18"/>
          <p:cNvSpPr/>
          <p:nvPr/>
        </p:nvSpPr>
        <p:spPr>
          <a:xfrm>
            <a:off x="14351000" y="86995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02 / 17</a:t>
            </a:r>
            <a:endParaRPr lang="en-US" sz="12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01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[[目标区域]][[产品类别]]市场概览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从"低价光伏套件"到"城市家庭能源入口" — 一个31.3% CAGR的新兴市场正在成型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[[目标区域]][[产品类别]]海外能源产品竞品调研报告 | [[更新日期]]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[[目标区域]][[产品类别]]市场规模2026-2030年：狭义硬件市场CAGR 31.3%，2030年达€14.7亿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70000"/>
          <a:ext cx="889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0033000" y="1270000"/>
            <a:ext cx="5334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7000" y="13716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31.3%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87000" y="2032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2026-2030年CAGR（狭义光储硬件）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033000" y="2667000"/>
            <a:ext cx="5334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87000" y="27686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€14.7亿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287000" y="3429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2030年狭义光储硬件市场规模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33000" y="4064000"/>
            <a:ext cx="5334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87000" y="4165600"/>
            <a:ext cx="25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55%</a:t>
            </a:r>
            <a:endParaRPr lang="en-US" sz="4000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287000" y="4826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2030年储能附加率（2026年为32%）</a:t>
            </a:r>
            <a:endParaRPr lang="en-US" sz="14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89000" y="58420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关键假设与洞察</a:t>
            </a:r>
            <a:endParaRPr lang="en-US" sz="1600" b="1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9000" y="61976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7" name="Text 14"/>
          <p:cNvSpPr/>
          <p:nvPr/>
        </p:nvSpPr>
        <p:spPr>
          <a:xfrm>
            <a:off x="889000" y="6324600"/>
            <a:ext cx="144780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增长主轴：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从PV-only kit转向"光伏+储能+EMS"完整系统，储能化是2026-2030年核心增长引擎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价格趋势：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套装ASP从€1,250降至€960，后装电池ASP从€750降至€510，LFP电池成本持续下行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容量趋势：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平均电池容量从1.8kWh增至2.2kWh，主流产品正向2-3kWh起步演进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[[重点国家]]底座：</a:t>
            </a: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[[重点国家]]占[[目标区域]]55%份额（2026年），43万套/年新增量构成最大存量 retrofit 池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9" name="Text 16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2" action="ppaction://hlinkfile"/>
              </a:rPr>
              <a:t>Bundesnetzagentur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3" action="ppaction://hlinkfile"/>
              </a:rPr>
              <a:t>SolarPower Europe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内部模型测算 | 基准假设: 储能附加率32%→55%, 平均容量1.8→2.2kWh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04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[[重点国家]]主导[[目标区域]]市场（55%份额），荷兰、英国、法国构成第二增长极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Text 3"/>
          <p:cNvSpPr/>
          <p:nvPr/>
        </p:nvSpPr>
        <p:spPr>
          <a:xfrm>
            <a:off x="889000" y="1244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2026年[[目标区域]]分国市场规模与政策成熟度矩阵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89000" y="1587500"/>
          <a:ext cx="14478000" cy="3683003"/>
        </p:xfrm>
        <a:graphic>
          <a:graphicData uri="http://schemas.openxmlformats.org/drawingml/2006/table">
            <a:tbl>
              <a:tblPr/>
              <a:tblGrid>
                <a:gridCol w="1737360"/>
                <a:gridCol w="1592580"/>
                <a:gridCol w="1447800"/>
                <a:gridCol w="1592580"/>
                <a:gridCol w="1303020"/>
                <a:gridCol w="1303020"/>
                <a:gridCol w="1303020"/>
                <a:gridCol w="1303020"/>
                <a:gridCol w="1447800"/>
                <a:gridCol w="1447800"/>
              </a:tblGrid>
              <a:tr h="58019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国家/地区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新增装机(GWp)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容量占比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收入(€bn)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接入清晰度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登记便利度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储能经济性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税收/补贴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租户权利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综合判断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[[重点国家]]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0.46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55%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0.71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最成熟、最确定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荷兰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11%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0.15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2027净计量退出驱动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法国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0.07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9%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0.13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零注入利好但CACSI门槛高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英国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6%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1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2026政策拐点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比利时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6%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认证清单打开市场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713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奥地利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0.05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体量较小但规则清晰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89000" y="54610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2026年新增容量分国结构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89000" y="5778500"/>
          <a:ext cx="4826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096000" y="5778500"/>
            <a:ext cx="9271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核心发现：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[[重点国家]]是[[目标区域]]唯一同时具备"低摩擦规则+零售渠道+租户权利+0% VAT"的完整生态国家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VDE当前标准不覆盖带储能设备，2026-2027年储能认证是最大合规变量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荷兰2027年净计量退出将强力推动储能经济性（储能价值从3→5）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英国2026年G98/BS 7671更新是最大增量变量，落地后或复制[[重点国家]]路径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1" name="Text 7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2" action="ppaction://hlinkfile"/>
              </a:rPr>
              <a:t>Bundesnetzagentur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</a:t>
            </a:r>
            <a:r>
              <a:rPr lang="en-US" sz="1100" u="sng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  <a:hlinkClick r:id="rId3" action="ppaction://hlinkfile"/>
              </a:rPr>
              <a:t>SolarPower Europe</a:t>
            </a: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, 各国政策机构 | 政策评分1-5主观评估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05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02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竞品全景分析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270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三类玩家、十款核心产品 — 从€235/kWh价格屠夫到€458/kWh高端全功能旗舰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[[目标区域]][[产品类别]]海外能源产品竞品调研报告 | [[更新日期]]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竞品价格-容量定位矩阵揭示€600-€900中端容量段存在结构性空白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70000"/>
          <a:ext cx="8890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033000" y="1270000"/>
            <a:ext cx="5334000" cy="469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4A148C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空白窗口识别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€600-€900价格带、2.0-2.5kWh容量段竞争稀疏 — 仅Jackery SV3 Pro（€699/2.52kWh）和EcoFlow AC Pro（€799/1.92kWh），且各自有短板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1A3C6E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价格竞争力排序（€/kWh）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① Marstek Venus A €235 ② Jackery SV3 Pro €278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③ EcoFlow Ultra €312 ④ Anker SB2 €312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⑤ Marstek Venus C €254 ⑥ Zendure 800 Pro €338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⑦ Jackery SV3 Max €357 ⑧ Anker SB3 €372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⑨ EcoFlow AC Pro €416 ⑩ Zendure 2400 Pro €458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89000" y="6197600"/>
            <a:ext cx="14478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9000" y="6197600"/>
            <a:ext cx="50800" cy="19685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9" name="Text 6"/>
          <p:cNvSpPr/>
          <p:nvPr/>
        </p:nvSpPr>
        <p:spPr>
          <a:xfrm>
            <a:off x="1143000" y="6286500"/>
            <a:ext cx="381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战略洞察</a:t>
            </a:r>
            <a:endParaRPr lang="en-US" sz="16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3000" y="6667500"/>
            <a:ext cx="13970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中端空白带（€600-€900 / 2.0-2.5kWh）是最优切入窗口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：上方Anker SB3（€999）价格门槛高，下方1.6kWh入门段利润薄且价格战激烈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Marstek以€235/kWh价格屠夫姿态切入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，但品牌力弱、App/服务短板明显，为"性价比+好服务"产品留出差异化空间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 SB2从€1,199降至€399（降幅67%）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，说明1.6kWh段已进入清库存阶段，不建议作为首发容量段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" name="Text 9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各品牌官网、[[目标电商平台]]、Geizhals、heise Bestenliste | 数据采集: 2026-06-04 | 价格为含税促销最低价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07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核心竞品参数五维对比：Anker渠道领先，Jackery性价比突出，Zendure定价偏高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44600"/>
          <a:ext cx="6604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74000" y="1244600"/>
            <a:ext cx="762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核心参数对比（代表型号最高分=5）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874000" y="1587500"/>
          <a:ext cx="7493000" cy="4318000"/>
        </p:xfrm>
        <a:graphic>
          <a:graphicData uri="http://schemas.openxmlformats.org/drawingml/2006/table">
            <a:tbl>
              <a:tblPr/>
              <a:tblGrid>
                <a:gridCol w="2098040"/>
                <a:gridCol w="1198880"/>
                <a:gridCol w="1198880"/>
                <a:gridCol w="1123950"/>
                <a:gridCol w="974090"/>
                <a:gridCol w="899160"/>
              </a:tblGrid>
              <a:tr h="47268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参数维度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SB3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 Pro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U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Marstek A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电池容量(kWh)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2.688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2.52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1.92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2.12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PV输入(W)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3,600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4,000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65C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2,000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2,400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3,000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MPPT路数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扩展容量(kWh)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16.1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15.1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11.5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12.7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16.8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AC备电(W)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1,200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1,200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1,200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1,500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2,400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防护等级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IP65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4933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动态电价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Nordpool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多源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各品牌用户手册PDF | 评分基于参数横向对比，5分为最优 | 数据日期: 2026-06-03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08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渠道覆盖两极分化：Anker全渠道渗透 vs Jackery/Marstek线下近乎空白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89000" y="1244600"/>
          <a:ext cx="9398000" cy="2679702"/>
        </p:xfrm>
        <a:graphic>
          <a:graphicData uri="http://schemas.openxmlformats.org/drawingml/2006/table">
            <a:tbl>
              <a:tblPr/>
              <a:tblGrid>
                <a:gridCol w="1879600"/>
                <a:gridCol w="1221740"/>
                <a:gridCol w="1221740"/>
                <a:gridCol w="1127760"/>
                <a:gridCol w="1127760"/>
                <a:gridCol w="1127760"/>
                <a:gridCol w="1691640"/>
              </a:tblGrid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品牌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[[目标电商平台]]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[[重点零售渠道]]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[[重点零售渠道]]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Bauhaus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Hornbach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综合评级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SOLIX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主力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A+ 最广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主力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 主力品牌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800Plus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B+ 线上为主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Marstek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B+ 有线下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4661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有售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C 官网+线上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668000" y="1244600"/>
            <a:ext cx="4699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[[目标电商平台]]评分与评价数对比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7" name="Chart 0"/>
          <p:cNvGraphicFramePr/>
          <p:nvPr/>
        </p:nvGraphicFramePr>
        <p:xfrm>
          <a:off x="10668000" y="1587500"/>
          <a:ext cx="4699000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89000" y="5016500"/>
            <a:ext cx="14478000" cy="314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9000" y="5016500"/>
            <a:ext cx="50800" cy="31496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5" name="Text 6"/>
          <p:cNvSpPr/>
          <p:nvPr/>
        </p:nvSpPr>
        <p:spPr>
          <a:xfrm>
            <a:off x="1143000" y="5105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渠道与服务策略关键发现</a:t>
            </a:r>
            <a:endParaRPr lang="en-US" sz="16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5486400"/>
            <a:ext cx="13970000" cy="260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渠道壁垒：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Anker已进入[[重点零售渠道]]/[[重点零售渠道]]/Bauhaus/Hornbach四大线下连锁，A+全覆盖；EcoFlow A级紧随其后。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Jackery[[重点国家]]线下评级仅C（仅yuma.de科隆门店），渠道是[[重点国家]]市场最大短板。Bauhaus已有EcoFlow/Anker自营，机会在覆盖深度。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服务差异：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Anker免费热线+10年质保+2小时安装承诺为标杆；EcoFlow 24h在线。Zendure/Marstek客服体验差。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差异化应聚焦可承诺、可验证的本地SLA（响应速度+备件仓+48h换修），而非仅比较是否有热线。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评分分化：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 SB2 4.6★/59评价（1星仅4%）vs Jackery Max 3.3★/8评价（1星25%），口碑差距显著。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价格竞争：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[[重点零售渠道]]/[[重点零售渠道]]大幅促销（EcoFlow -30%至-38%），价格战已在线下渠道蔓延。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3" name="Text 9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[[重点零售渠道]].de, [[重点零售渠道]].de, Bauhaus.info, [[目标电商平台]], 各品牌官网 | 数据采集: 2026-06-03至06-05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09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03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用户痛点深度解码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270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从2,000+条真实用户反馈中提取五大高频痛点 — 价格是最大公约数，APP稳定性是差异化战场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[[目标区域]][[产品类别]]海外能源产品竞品调研报告 | [[更新日期]]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五大用户痛点：价格敏感&gt;APP不稳&gt;安装复杂&gt;售后差&gt;配送费高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5" name="Chart 0"/>
          <p:cNvGraphicFramePr/>
          <p:nvPr/>
        </p:nvGraphicFramePr>
        <p:xfrm>
          <a:off x="889000" y="1244600"/>
          <a:ext cx="635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20000" y="1244600"/>
            <a:ext cx="7747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[[目标电商平台]]评分与差评率矩阵</a:t>
            </a:r>
            <a:endParaRPr lang="en-US" sz="14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620000" y="1587500"/>
          <a:ext cx="7747000" cy="3175000"/>
        </p:xfrm>
        <a:graphic>
          <a:graphicData uri="http://schemas.openxmlformats.org/drawingml/2006/table">
            <a:tbl>
              <a:tblPr/>
              <a:tblGrid>
                <a:gridCol w="2169160"/>
                <a:gridCol w="1704340"/>
                <a:gridCol w="1162050"/>
                <a:gridCol w="1162050"/>
                <a:gridCol w="1549400"/>
              </a:tblGrid>
              <a:tr h="44097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产品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评分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评价数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1星占比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核心槽点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4.6★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59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WiFi/价格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4.5★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120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7%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价格/服务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 800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4.5★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7%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WiFi/客服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AC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4.3★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177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10%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Tibber依赖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 2400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4.3★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0%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零馈电泄漏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Ultra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3.9★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90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14%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系统混乱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905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 Max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3.3★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71C1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8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25%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售后/APP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89000" y="5016500"/>
            <a:ext cx="1447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9000" y="5016500"/>
            <a:ext cx="50800" cy="32766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10" name="Text 6"/>
          <p:cNvSpPr/>
          <p:nvPr/>
        </p:nvSpPr>
        <p:spPr>
          <a:xfrm>
            <a:off x="1143000" y="5105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用户原声摘录（多源交叉验证）</a:t>
            </a:r>
            <a:endParaRPr lang="en-US" sz="16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43000" y="5486400"/>
            <a:ext cx="13970000" cy="273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4A148C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[价格]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"Leider sehr teuer." (Anker用户Udo) | "der Preis wie immer gefühlt 60% zu teuer" (论坛用户Stanzlinger)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"800€/50€ sind 16 Jahre"回本 (用户R O G E R) | "半价我才能理解" (ComputerBase评论)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1A3C6E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[APP/连接]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"WiFi连接不稳定，每天至少一次Smart Meter断连" (ComputerBase测Anker SB2)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"Cloud只能通过变通方案集成Home Assistant" (评测) | "App频繁卡顿、WiFi信号显示异常" (Jackery用户)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37474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[安装]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"需要钻孔40cm穿墙" (Marstek用户) | "Smart Meter需专业电工安装" (ComputerBase)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"准备工作复杂" (Marstek Amazon评论) | "即插即用是核心卖点，但多数产品做不到" (Reddit r/Balkonkraftwerk)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[售后]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"客服不回邮件、电话无人应答" (EcoFlow用户) | "退货20天才退款，运费€23.99不退" (Zendure用户) |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"卖家说会处理...然后就没消息了" (Anker A-Z投诉用户Joachim) | "远离Marstek即使便宜" (Reddit用户)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8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3" name="Text 9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[[目标电商平台]], Reddit r/Balkonkraftwerk, ComputerBase评测, photovoltaikforum.com | 数据采集: 2026-06-04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11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典型差评案例揭示核心短板：EcoFlow系统混乱、Zendure云依赖、Jackery售后失联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89000" y="1244600"/>
          <a:ext cx="14478000" cy="4445000"/>
        </p:xfrm>
        <a:graphic>
          <a:graphicData uri="http://schemas.openxmlformats.org/drawingml/2006/table">
            <a:tbl>
              <a:tblPr/>
              <a:tblGrid>
                <a:gridCol w="2026920"/>
                <a:gridCol w="2895600"/>
                <a:gridCol w="4343400"/>
                <a:gridCol w="2895600"/>
                <a:gridCol w="231648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品牌/产品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核心问题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用户原话摘录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影响范围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可复现性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EcoFlow STREAM Ultra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系统逻辑混乱、客服模板回复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「运行逻辑不受把控，会从公网充满，日照时电池已满载」；客服24h自动关工单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14% 1星差评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Zendure 2400 AC+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零馈电泄漏、云依赖、退货难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Nulleinspeisung泄漏40-80W；MQTT延迟2-3秒；退货20天才退款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零馈电功能失效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持续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Jackery SV3 Pro Max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售后失联、APP卡顿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售后2天回复永远套话；App频繁卡顿；WiFi满格但App显示极差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25% 1星差评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持续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Marstek Venus A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WiFi不稳、App有限、零馈电故障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WiFi非常不稳定需桥接器；App功能有限；零馈电不工作需重置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Reddit多例报告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Anker SB3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软件Beta、AI营销过度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「软件仍处Beta阶段」；Smart Mode不直观；仅Nordpool无Tibber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ComputerBase评测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持续优化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89000" y="5905500"/>
            <a:ext cx="14478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9000" y="5905500"/>
            <a:ext cx="50800" cy="2286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8" name="Text 5"/>
          <p:cNvSpPr/>
          <p:nvPr/>
        </p:nvSpPr>
        <p:spPr>
          <a:xfrm>
            <a:off x="1143000" y="5994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竞品短板总结与差异化机会</a:t>
            </a:r>
            <a:endParaRPr lang="en-US" sz="1600" b="1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6375400"/>
            <a:ext cx="13970000" cy="171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① 安装体验 — 全行业短板：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仅Anker接近"2小时快速安装"承诺，其余均需电工或钻孔。差异化空间：真正30分钟即插即用。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② APP稳定性 — 差异化战场：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Anker/EcoFlow/Jackery均有WiFi/同步/卡顿问题，无一品牌做到完美。差异化空间：离线模式+本地控制。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③ 零馈电精度 — 技术壁垒：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Zendure泄漏40-80W、Marstek旁路故障。精准零馈电（&lt;10W）是技术护城河。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④ 售后服务 — 品牌分水岭：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Anker免费热线+10年质保 vs Jackery/Zendure/Marstek客服失联。本地化服务是最大品牌壁垒。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1" name="Text 8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[[目标电商平台]]评价, Reddit r/Balkonkraftwerk, ComputerBase评测 | 摘录保留原文语境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12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9000" y="2286000"/>
            <a:ext cx="5080000" cy="177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dirty="0">
                <a:solidFill>
                  <a:srgbClr val="FFFFFF">
                    <a:alpha val="20000"/>
                  </a:srgbClr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04</a:t>
            </a:r>
            <a:endParaRPr lang="en-US" sz="12000" dirty="0">
              <a:solidFill>
                <a:srgbClr val="FFFFFF">
                  <a:alpha val="20000"/>
                </a:srgbClr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9000" y="4191000"/>
            <a:ext cx="1016000" cy="381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889000" y="4445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战略机会与行动建议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5334000"/>
            <a:ext cx="1270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聚焦€600-€999中端空白带、2.0-2.5kWh黄金容量段 — 用[[重点国家]]VDE认证+线下渠道建立壁垒</a:t>
            </a:r>
            <a:endParaRPr lang="en-US" sz="2000" dirty="0">
              <a:solidFill>
                <a:srgbClr val="FFFFFF">
                  <a:alpha val="7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889000" y="85090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[[目标区域]][[产品类别]]海外能源产品竞品调研报告 | [[更新日期]]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SWOT分析：市场爆发+中端空白窗口（SO），但需警惕价格战与合规风险（WT）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Shape 3"/>
          <p:cNvSpPr/>
          <p:nvPr/>
        </p:nvSpPr>
        <p:spPr>
          <a:xfrm>
            <a:off x="889000" y="1270000"/>
            <a:ext cx="7048500" cy="3238500"/>
          </a:xfrm>
          <a:prstGeom prst="rect">
            <a:avLst/>
          </a:prstGeom>
          <a:solidFill>
            <a:srgbClr val="4A148C">
              <a:alpha val="5098"/>
            </a:srgbClr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1270000"/>
            <a:ext cx="7048500" cy="508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7" name="Text 5"/>
          <p:cNvSpPr/>
          <p:nvPr/>
        </p:nvSpPr>
        <p:spPr>
          <a:xfrm>
            <a:off x="1079500" y="14224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S 优势</a:t>
            </a:r>
            <a:endParaRPr lang="en-US" sz="1800" b="1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9500" y="1803400"/>
            <a:ext cx="6667500" cy="260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后发产品设计优势，可针对竞品短板定向优化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无历史包袱，不受既有用户群和渠道约束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可灵活选择容量段和价格带，无需清库存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中国供应链成本优势，LFP电池采购效率高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可集成最完整的智能功能（动态电价/VPP/HA）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318500" y="1270000"/>
            <a:ext cx="7048500" cy="3238500"/>
          </a:xfrm>
          <a:prstGeom prst="rect">
            <a:avLst/>
          </a:prstGeom>
          <a:solidFill>
            <a:srgbClr val="757575">
              <a:alpha val="5098"/>
            </a:srgbClr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8500" y="1270000"/>
            <a:ext cx="7048500" cy="50800"/>
          </a:xfrm>
          <a:prstGeom prst="rect">
            <a:avLst/>
          </a:prstGeom>
          <a:solidFill>
            <a:srgbClr val="757575"/>
          </a:solidFill>
        </p:spPr>
      </p:sp>
      <p:sp>
        <p:nvSpPr>
          <p:cNvPr id="11" name="Text 9"/>
          <p:cNvSpPr/>
          <p:nvPr/>
        </p:nvSpPr>
        <p:spPr>
          <a:xfrm>
            <a:off x="8509000" y="14224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24242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W 劣势</a:t>
            </a:r>
            <a:endParaRPr lang="en-US" sz="1800" b="1" dirty="0">
              <a:solidFill>
                <a:srgbClr val="424242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09000" y="1803400"/>
            <a:ext cx="6667500" cy="260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品牌认知从零起步，Anker/EcoFlow已有强心智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渠道网络尚未建立，[[重点零售渠道]]/[[重点零售渠道]]准入门槛高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[[重点国家]]本地客服团队缺失，服务响应能力待验证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VDE/CE认证周期3-6个月，上市时间存在不确定性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无既有用户群和口碑积累，冷启动成本高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89000" y="4762500"/>
            <a:ext cx="7048500" cy="3365500"/>
          </a:xfrm>
          <a:prstGeom prst="rect">
            <a:avLst/>
          </a:prstGeom>
          <a:solidFill>
            <a:srgbClr val="1A3C6E">
              <a:alpha val="5098"/>
            </a:srgbClr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000" y="4762500"/>
            <a:ext cx="7048500" cy="50800"/>
          </a:xfrm>
          <a:prstGeom prst="rect">
            <a:avLst/>
          </a:prstGeom>
          <a:solidFill>
            <a:srgbClr val="1A3C6E"/>
          </a:solidFill>
        </p:spPr>
      </p:sp>
      <p:sp>
        <p:nvSpPr>
          <p:cNvPr id="15" name="Text 13"/>
          <p:cNvSpPr/>
          <p:nvPr/>
        </p:nvSpPr>
        <p:spPr>
          <a:xfrm>
            <a:off x="1079500" y="49149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O 机会</a:t>
            </a:r>
            <a:endParaRPr lang="en-US" sz="1800" b="1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79500" y="5295900"/>
            <a:ext cx="6667500" cy="273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€600-€999 / 2.0-2.5kWh结构性空白带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：Marstek低价服务弱，Anker高价门槛高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服务响应质量超越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：多品牌有联系方式但响应质量/备件仓/换修效率差异大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软件体验差距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：各品牌APP均不稳定/云依赖严重 → 离线优先+真正稳定APP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[[重点国家]]VDE储能标准缺口（2026-2027）：先发认证=准入壁垒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荷兰净计量退出（2027.1.1）驱动储能需求爆发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用户对"开放API+Home Assistant"需求强烈，无一品牌满足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18500" y="4762500"/>
            <a:ext cx="7048500" cy="3365500"/>
          </a:xfrm>
          <a:prstGeom prst="rect">
            <a:avLst/>
          </a:prstGeom>
          <a:solidFill>
            <a:srgbClr val="B71C1C">
              <a:alpha val="5098"/>
            </a:srgbClr>
          </a:solidFill>
          <a:ln w="12700">
            <a:solidFill>
              <a:srgbClr val="B71C1C">
                <a:alpha val="25098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8500" y="4762500"/>
            <a:ext cx="7048500" cy="508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9" name="Text 17"/>
          <p:cNvSpPr/>
          <p:nvPr/>
        </p:nvSpPr>
        <p:spPr>
          <a:xfrm>
            <a:off x="8509000" y="4914900"/>
            <a:ext cx="254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71C1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T 威胁</a:t>
            </a:r>
            <a:endParaRPr lang="en-US" sz="1800" b="1" dirty="0">
              <a:solidFill>
                <a:srgbClr val="B71C1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09000" y="5295900"/>
            <a:ext cx="6667500" cy="273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Anker快速迭代（SB4 E5000 Pro已发布），产品节奏压力大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PV-only套件价格战蔓延，可能压缩整体品类利润空间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VDE储能认证标准不确定性，可能延迟上市或增加成本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[[目标电商平台]]已有10款产品有评价积累，新进入者差异化难度大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传统逆变器企业（Deye/Hoymiles）可能以OEM方式进入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欧盟贸易政策变化可能影响中国供应链成本优势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2" name="Text 20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基于交付物1-6综合分析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14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产品定位建议：首推2.0-2.5kWh容量段，定价€799-€899，单kWh成本控制在€320以下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Shape 3"/>
          <p:cNvSpPr/>
          <p:nvPr/>
        </p:nvSpPr>
        <p:spPr>
          <a:xfrm>
            <a:off x="889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2.5kWh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9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首推电池容量（黄金段）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€799-€899</a:t>
            </a:r>
            <a:endParaRPr lang="en-US" sz="4000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62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建议单机定价区间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55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5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€320/kWh</a:t>
            </a:r>
            <a:endParaRPr lang="en-US" sz="4000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45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目标单kWh成本上限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938000" y="1270000"/>
            <a:ext cx="3429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28500" y="1333500"/>
            <a:ext cx="304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3C6E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5-7年</a:t>
            </a:r>
            <a:endParaRPr lang="en-US" sz="4000" dirty="0">
              <a:solidFill>
                <a:srgbClr val="1A3C6E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128500" y="2006600"/>
            <a:ext cx="304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目标用户回收期</a:t>
            </a:r>
            <a:endParaRPr lang="en-US" sz="13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9000" y="26670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容量段优先级矩阵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889000" y="3009900"/>
          <a:ext cx="7048500" cy="2794002"/>
        </p:xfrm>
        <a:graphic>
          <a:graphicData uri="http://schemas.openxmlformats.org/drawingml/2006/table">
            <a:tbl>
              <a:tblPr/>
              <a:tblGrid>
                <a:gridCol w="1550670"/>
                <a:gridCol w="1409700"/>
                <a:gridCol w="1409700"/>
                <a:gridCol w="1409700"/>
                <a:gridCol w="1268730"/>
              </a:tblGrid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容量段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优先级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目标价格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竞争强度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战略理由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2.0-2.5kWh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P0 首发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€799-€899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低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空白窗口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1.6-2.0kWh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P1 跟进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€599-€699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价格敏感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2.5-3.5kWh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P2 扩展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€999-€1,299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中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高价值用户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155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3.5kWh+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P3 观望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€1,499+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低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 niche市场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318500" y="26670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核心差异化配置清单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318500" y="3009900"/>
            <a:ext cx="7048500" cy="294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硬件配置：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4路MPPT / 2,400W PV输入 / 800W并网+1,200W备电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支持AC双向充电与动态电价策略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IP65 / -20°C工作 / 气溶胶灭火 / 10年质保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软件差异化（竞品最大短板）：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真正30分钟即插即用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（无电工、无钻孔）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APP离线模式+本地控制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（不依赖云端）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开放API / Home Assistant原生集成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• </a:t>
            </a:r>
            <a:r>
              <a:rPr lang="en-US" sz="14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多动态电价源</a:t>
            </a:r>
            <a:r>
              <a:rPr lang="en-US" sz="14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（Nordpool+EPEX+Tibber+Octopus）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89000" y="6032500"/>
            <a:ext cx="1447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9000" y="6032500"/>
            <a:ext cx="50800" cy="2159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23" name="Text 20"/>
          <p:cNvSpPr/>
          <p:nvPr/>
        </p:nvSpPr>
        <p:spPr>
          <a:xfrm>
            <a:off x="1143000" y="61214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A148C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套装定价策略</a:t>
            </a:r>
            <a:endParaRPr lang="en-US" sz="1600" b="1" dirty="0">
              <a:solidFill>
                <a:srgbClr val="4A148C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43000" y="6502400"/>
            <a:ext cx="13970000" cy="158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单机（2.5kWh）：€799-€899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| 含面板套装（4×400W）：€999-€1,149 | 含扩展电池套装（5.0kWh）：€1,299-€1,499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定价锚定：比Anker SB3（€999/2.688kWh）低€100-€200，比Jackery SV3 Pro（€699/2.52kWh）高€100-€200，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以"更好的APP稳定性+离线模式+开放API+本地服务"支撑溢价。€/kWh控制在€320以下，对标Marstek Venus C（€254/kWh）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和EcoFlow Ultra（€312/kWh），确保价格竞争力同时保留毛利空间。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6" name="Text 23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竞品定价分析（交付物3-4）, 用户痛点分析（交付物6）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15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" name="Text 1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12121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渠道首发策略：避开Amazon红海，优先Bauhaus/Hornbach+DTC，6个月后拓展Amazon</a:t>
            </a:r>
            <a:endParaRPr lang="en-US" sz="2800" dirty="0">
              <a:solidFill>
                <a:srgbClr val="212121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066800"/>
            <a:ext cx="762000" cy="2540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" name="Text 3"/>
          <p:cNvSpPr/>
          <p:nvPr/>
        </p:nvSpPr>
        <p:spPr>
          <a:xfrm>
            <a:off x="889000" y="12446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Liter" panose="02000503030000020004" pitchFamily="34" charset="-120"/>
              </a:rPr>
              <a:t>渠道优先级与准入策略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889000" y="1587500"/>
          <a:ext cx="7112000" cy="3302000"/>
        </p:xfrm>
        <a:graphic>
          <a:graphicData uri="http://schemas.openxmlformats.org/drawingml/2006/table">
            <a:tbl>
              <a:tblPr/>
              <a:tblGrid>
                <a:gridCol w="1137920"/>
                <a:gridCol w="1564640"/>
                <a:gridCol w="2275840"/>
                <a:gridCol w="2133600"/>
              </a:tblGrid>
              <a:tr h="49721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优先级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渠道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理由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行动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P0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DTC德语官网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品牌认知+用户数据+最高毛利+控制定价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首发同步上线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Bauhaus/Hornbach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C6E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线下体验+安装场景+竞争稀疏+高信任度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Q3启动谈判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P2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[[重点零售渠道]]/[[重点零售渠道]]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品牌背书+高客流+消费电子心智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Q4入驻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0119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P3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[[目标电商平台]]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流量大但价格战激烈+评价积累慢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6个月后上架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382000" y="1244600"/>
            <a:ext cx="508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认证路线图（2026-2027）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8382000" y="1587500"/>
          <a:ext cx="69850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889000" y="50800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12121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VPP/协议兼容清单（必须级 vs 建议级）</a:t>
            </a:r>
            <a:endParaRPr lang="en-US" sz="1500" b="1" dirty="0">
              <a:solidFill>
                <a:srgbClr val="212121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33" name="Table 1"/>
          <p:cNvGraphicFramePr>
            <a:graphicFrameLocks noGrp="1"/>
          </p:cNvGraphicFramePr>
          <p:nvPr/>
        </p:nvGraphicFramePr>
        <p:xfrm>
          <a:off x="889000" y="5422900"/>
          <a:ext cx="14478000" cy="2400300"/>
        </p:xfrm>
        <a:graphic>
          <a:graphicData uri="http://schemas.openxmlformats.org/drawingml/2006/table">
            <a:tbl>
              <a:tblPr/>
              <a:tblGrid>
                <a:gridCol w="2026920"/>
                <a:gridCol w="3619500"/>
                <a:gridCol w="2606040"/>
                <a:gridCol w="6225540"/>
              </a:tblGrid>
              <a:tr h="36444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优先级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协议/平台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类型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兼容理由</a:t>
                      </a:r>
                      <a:endParaRPr lang="en-US" sz="1400" b="1" u="none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Shelly Pro 3EM / Shelly Plug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智能电表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德奥市场标配，用户持有率最高，开源协议易集成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Nordpool / EPEX Spot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动态电价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[[目标区域]]主流动态电价数据源，Anker/Zendure均已支持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Home Assistant / MQTT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本地协议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技术社区强烈需求，无一品牌原生满足，最大差异化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必须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148C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Tibber Pulse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智能电表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北欧/[[重点国家]]快速增长，但Tibber云服务稳定性被诟病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建议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EverHome / HomeWizard P1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智能电表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荷兰/比利时主流，市场覆盖率中等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93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建议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Octopus Agile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动态电价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12121"/>
                          </a:solidFill>
                          <a:latin typeface="Times New Roman" panose="02020603050405020304" charset="0"/>
                          <a:ea typeface="Liter" panose="02000503030000020004" pitchFamily="34" charset="-122"/>
                          <a:cs typeface="Times New Roman" panose="02020603050405020304" charset="0"/>
                        </a:rPr>
                        <a:t>英国市场主导，G98落地后优先级提升</a:t>
                      </a:r>
                      <a:endParaRPr lang="en-US" sz="1400" u="none" dirty="0">
                        <a:solidFill>
                          <a:srgbClr val="212121"/>
                        </a:solidFill>
                        <a:latin typeface="Times New Roman" panose="02020603050405020304" charset="0"/>
                        <a:ea typeface="Liter" panose="02000503030000020004" pitchFamily="34" charset="-122"/>
                        <a:cs typeface="Times New Roman" panose="0202060305040502030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2" name="Text 7"/>
          <p:cNvSpPr/>
          <p:nvPr/>
        </p:nvSpPr>
        <p:spPr>
          <a:xfrm>
            <a:off x="889000" y="8483600"/>
            <a:ext cx="1143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Source: VDE, Synergrid C10/11, GOV.UK G98, RVO荷兰 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4351000" y="84836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57575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16 / 17</a:t>
            </a:r>
            <a:endParaRPr lang="en-US" sz="1100" dirty="0">
              <a:solidFill>
                <a:srgbClr val="757575"/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uedkni4duuwk/mnt/agents/output/eu_balcony_solar_report/images/8_How_German_Government_Policies_Ar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4A148C">
                  <a:alpha val="91000"/>
                </a:srgbClr>
              </a:gs>
              <a:gs pos="50000">
                <a:srgbClr val="4A148C">
                  <a:alpha val="82000"/>
                </a:srgbClr>
              </a:gs>
              <a:gs pos="100000">
                <a:srgbClr val="4A148C">
                  <a:alpha val="6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89000" y="1016000"/>
            <a:ext cx="1016000" cy="50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889000" y="1270000"/>
            <a:ext cx="11430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核心结论与下一步行动</a:t>
            </a:r>
            <a:endParaRPr lang="en-US" sz="40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89000" y="2133600"/>
            <a:ext cx="6350000" cy="127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889000" y="2349500"/>
            <a:ext cx="139700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[[目标区域]][[产品类别]]是一个</a:t>
            </a:r>
            <a:r>
              <a:rPr lang="en-US" sz="1800" b="1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€14.7亿（2030年）的高增长市场，CAGR 31.3%</a:t>
            </a:r>
            <a:r>
              <a:rPr lang="en-US" sz="1800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。当前竞争格局存在结构性空白：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€600-€999中端价格带、2.0-2.5kWh黄金容量段、线下渠道（Bauhaus/Hornbach）准入窗口</a:t>
            </a:r>
            <a:r>
              <a:rPr lang="en-US" sz="1800" dirty="0">
                <a:solidFill>
                  <a:srgbClr val="FFFFFF">
                    <a:alpha val="93333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 — 三者叠加构成最优切入时机。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9000" y="3873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四大行动建议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89000" y="4445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1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97000" y="4445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产品 — 2.5kWh/€799-€899定位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离线优先APP+开放API/HA+精准零馈电+30分钟即插即用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89000" y="52705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2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97000" y="5334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渠道 — DTC+Bauhaus首发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6月后上Amazon，避免早期价格战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55000" y="4445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3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763000" y="4445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认证 — VDE 4105优先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荷兰/英国/法国跟进，构建合规壁垒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55000" y="52705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Times New Roman" panose="02020603050405020304" charset="0"/>
              </a:rPr>
              <a:t>4</a:t>
            </a:r>
            <a:endParaRPr lang="en-US" sz="2200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Times New Roman" panose="020206030504050203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763000" y="5334000"/>
            <a:ext cx="6096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服务 — [[重点国家]]本地客服热线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2小时SLA响应+10年质保，建立品牌信任</a:t>
            </a: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89000" y="6223000"/>
            <a:ext cx="14478000" cy="1270000"/>
          </a:xfrm>
          <a:prstGeom prst="rect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6324600"/>
            <a:ext cx="381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charset="0"/>
                <a:ea typeface="Oranienbaum" panose="02000506080000020003" pitchFamily="34" charset="-122"/>
                <a:cs typeface="Oranienbaum" panose="02000506080000020003" pitchFamily="34" charset="-120"/>
              </a:rPr>
              <a:t>下一步行动</a:t>
            </a:r>
            <a:endParaRPr lang="en-US" sz="1600" b="1" dirty="0">
              <a:solidFill>
                <a:srgbClr val="FFFFFF"/>
              </a:solidFill>
              <a:latin typeface="Times New Roman" panose="02020603050405020304" charset="0"/>
              <a:ea typeface="Oranienbaum" panose="02000506080000020003" pitchFamily="34" charset="-122"/>
              <a:cs typeface="Oranienbaum" panose="02000506080000020003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" y="6705600"/>
            <a:ext cx="13970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立即启动产品定义与VDE-AR-N 4105认证申请，同步与Bauhaus进行渠道谈判 | Q3完成产品原型与认证测试 | Q4[[重点国家]]首发上市</a:t>
            </a:r>
            <a:endParaRPr lang="en-US" sz="1500" dirty="0">
              <a:solidFill>
                <a:srgbClr val="FFFFFF">
                  <a:alpha val="80000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9000" y="8382000"/>
            <a:ext cx="14478000" cy="127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889000" y="8509000"/>
            <a:ext cx="1016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[[目标区域]][[产品类别]]海外能源产品竞品调研报告 | [[更新日期]] | CONFIDENTIAL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4351000" y="8509000"/>
            <a:ext cx="1016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Times New Roman" panose="02020603050405020304" charset="0"/>
                <a:ea typeface="Liter" panose="02000503030000020004" pitchFamily="34" charset="-122"/>
                <a:cs typeface="Times New Roman" panose="02020603050405020304" charset="0"/>
              </a:rPr>
              <a:t>17 / 17</a:t>
            </a:r>
            <a:endParaRPr lang="en-US" sz="1200" dirty="0">
              <a:solidFill>
                <a:srgbClr val="FFFFFF">
                  <a:alpha val="50196"/>
                </a:srgbClr>
              </a:solidFill>
              <a:latin typeface="Times New Roman" panose="02020603050405020304" charset="0"/>
              <a:ea typeface="Liter" panose="020005030300000200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2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3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4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5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6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7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8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9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0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1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2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3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4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ags/tag15.xml><?xml version="1.0" encoding="utf-8"?>
<p:tagLst xmlns:p="http://schemas.openxmlformats.org/presentationml/2006/main">
  <p:tag name="KSO_WM_DIAGRAM_VIRTUALLY_FRAME" val="{&quot;height&quot;:300,&quot;left&quot;:70,&quot;top&quot;:140,&quot;width&quot;:1140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7696</Words>
  <Application>WPS 演示</Application>
  <PresentationFormat>On-screen Show (16:9)</PresentationFormat>
  <Paragraphs>922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Oranienbaum</vt:lpstr>
      <vt:lpstr>Oranienbaum</vt:lpstr>
      <vt:lpstr>Oranienbaum</vt:lpstr>
      <vt:lpstr>Liter</vt:lpstr>
      <vt:lpstr>Liter</vt:lpstr>
      <vt:lpstr>Liter</vt:lpstr>
      <vt:lpstr>Arial</vt:lpstr>
      <vt:lpstr>Calibri</vt:lpstr>
      <vt:lpstr>微软雅黑</vt:lpstr>
      <vt:lpstr>Arial Unicode MS</vt:lpstr>
      <vt:lpstr>等线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欧洲阳台光储产品竞品调研报告</dc:title>
  <dc:creator>Kimi</dc:creator>
  <dc:subject>欧洲阳台光储产品竞品调研报告</dc:subject>
  <cp:lastModifiedBy>DARLIANG YOU</cp:lastModifiedBy>
  <cp:revision>2</cp:revision>
  <dcterms:created xsi:type="dcterms:W3CDTF">2026-06-08T09:48:00Z</dcterms:created>
  <dcterms:modified xsi:type="dcterms:W3CDTF">2026-06-08T09:55:56Z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欧洲阳台光储产品竞品调研报告","ContentProducer":"001191110108MACG2KBH8F10000","ProduceID":"19ea6a11-bcf2-898f-8000-0000b9f089b8","ReservedCode1":"","ContentPropagator":"001191110108MACG2KBH8F20000","PropagateID":"19ea6a11-bcf2-898f-8000-0000b9f089b8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03CD67CAA706447A8D8E0E43429CB184_13</vt:lpwstr>
  </property>
</Properties>
</file>